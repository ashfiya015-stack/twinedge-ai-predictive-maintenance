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RNF</c:v>
                  </c:pt>
                  <c:pt idx="1">
                    <c:v>Tool wear</c:v>
                  </c:pt>
                  <c:pt idx="2">
                    <c:v>Rot. speed</c:v>
                  </c:pt>
                  <c:pt idx="3">
                    <c:v>Torque</c:v>
                  </c:pt>
                  <c:pt idx="4">
                    <c:v>TWF</c:v>
                  </c:pt>
                  <c:pt idx="5">
                    <c:v>PWF</c:v>
                  </c:pt>
                  <c:pt idx="6">
                    <c:v>OSF</c:v>
                  </c:pt>
                  <c:pt idx="7">
                    <c:v>HDF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0.02</c:v>
                </c:pt>
                <c:pt idx="1">
                  <c:v>0.06</c:v>
                </c:pt>
                <c:pt idx="2">
                  <c:v>0.07</c:v>
                </c:pt>
                <c:pt idx="3">
                  <c:v>0.08</c:v>
                </c:pt>
                <c:pt idx="4">
                  <c:v>0.13</c:v>
                </c:pt>
                <c:pt idx="5">
                  <c:v>0.19</c:v>
                </c:pt>
                <c:pt idx="6">
                  <c:v>0.21</c:v>
                </c:pt>
                <c:pt idx="7">
                  <c:v>0.3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7F8FA"/>
        </a:solidFill>
        <a:ln>
          <a:noFill/>
        </a:ln>
        <a:effectLst/>
      </c:spPr>
    </c:plotArea>
    <c:plotVisOnly val="1"/>
    <c:dispBlanksAs val="span"/>
  </c:chart>
  <c:spPr>
    <a:solidFill>
      <a:srgbClr val="F7F8FA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RNF</c:v>
                  </c:pt>
                  <c:pt idx="1">
                    <c:v>Tool wear [min]</c:v>
                  </c:pt>
                  <c:pt idx="2">
                    <c:v>Rotational speed [rpm]</c:v>
                  </c:pt>
                  <c:pt idx="3">
                    <c:v>Torque [Nm]</c:v>
                  </c:pt>
                  <c:pt idx="4">
                    <c:v>TWF</c:v>
                  </c:pt>
                  <c:pt idx="5">
                    <c:v>PWF</c:v>
                  </c:pt>
                  <c:pt idx="6">
                    <c:v>OSF</c:v>
                  </c:pt>
                  <c:pt idx="7">
                    <c:v>HDF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0.02</c:v>
                </c:pt>
                <c:pt idx="1">
                  <c:v>0.06</c:v>
                </c:pt>
                <c:pt idx="2">
                  <c:v>0.07</c:v>
                </c:pt>
                <c:pt idx="3">
                  <c:v>0.08</c:v>
                </c:pt>
                <c:pt idx="4">
                  <c:v>0.13</c:v>
                </c:pt>
                <c:pt idx="5">
                  <c:v>0.19</c:v>
                </c:pt>
                <c:pt idx="6">
                  <c:v>0.21</c:v>
                </c:pt>
                <c:pt idx="7">
                  <c:v>0.3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Importance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7F8FA"/>
        </a:solidFill>
        <a:ln>
          <a:noFill/>
        </a:ln>
        <a:effectLst/>
      </c:spPr>
    </c:plotArea>
    <c:plotVisOnly val="1"/>
    <c:dispBlanksAs val="span"/>
  </c:chart>
  <c:spPr>
    <a:solidFill>
      <a:srgbClr val="F7F8F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4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6243E"/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-2011680"/>
            <a:ext cx="6400800" cy="6400800"/>
          </a:xfrm>
          <a:prstGeom prst="ellipse">
            <a:avLst/>
          </a:prstGeom>
          <a:solidFill>
            <a:srgbClr val="1F3357"/>
          </a:solidFill>
          <a:ln/>
        </p:spPr>
      </p:sp>
      <p:sp>
        <p:nvSpPr>
          <p:cNvPr id="4" name="Shape 2"/>
          <p:cNvSpPr/>
          <p:nvPr/>
        </p:nvSpPr>
        <p:spPr>
          <a:xfrm>
            <a:off x="9418320" y="-548640"/>
            <a:ext cx="3840480" cy="38404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MAINTENANCE  ·  DIGITAL TWIN  ·  EDGE AI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182880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TwinEdge AI</a:t>
            </a:r>
            <a:endParaRPr lang="en-US" sz="5800" dirty="0"/>
          </a:p>
        </p:txBody>
      </p:sp>
      <p:sp>
        <p:nvSpPr>
          <p:cNvPr id="7" name="Text 5"/>
          <p:cNvSpPr/>
          <p:nvPr/>
        </p:nvSpPr>
        <p:spPr>
          <a:xfrm>
            <a:off x="640080" y="288036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Edge-based digital twin for predictive maintenance and smart manufacturing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0080" y="4617720"/>
            <a:ext cx="6766560" cy="1554480"/>
          </a:xfrm>
          <a:prstGeom prst="rect">
            <a:avLst/>
          </a:prstGeom>
          <a:solidFill>
            <a:srgbClr val="1F3357"/>
          </a:solidFill>
          <a:ln/>
          <a:effectLst>
            <a:outerShdw sx="100000" sy="100000" kx="0" ky="0" algn="bl" rotWithShape="0" blurRad="127000" dist="38100" dir="54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14400" y="477316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743200" y="477316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STARBUCKS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52120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743200" y="52120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Govt Mahila Engineering College, Ajmer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14400" y="56509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TO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743200" y="565099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Tata Technologies InnoVent-27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plants lose time and money because machine failures are detected only after they happen.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3310128" cy="1965960"/>
          </a:xfrm>
          <a:prstGeom prst="rect">
            <a:avLst/>
          </a:prstGeom>
          <a:solidFill>
            <a:srgbClr val="F7F8FA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68096" y="2231136"/>
            <a:ext cx="566928" cy="566928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7" name="Image 0" descr="assets/warning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4159" y="2367199"/>
            <a:ext cx="294803" cy="29480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2898648"/>
            <a:ext cx="2852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Unexpected failures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77240" y="3246120"/>
            <a:ext cx="28529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Machines break down without warning, halting production lines.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105656" y="2057400"/>
            <a:ext cx="3310128" cy="1965960"/>
          </a:xfrm>
          <a:prstGeom prst="rect">
            <a:avLst/>
          </a:prstGeom>
          <a:solidFill>
            <a:srgbClr val="F7F8FA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325112" y="2231136"/>
            <a:ext cx="566928" cy="566928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2" name="Image 1" descr="assets/dollar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1175" y="2367199"/>
            <a:ext cx="294803" cy="29480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334256" y="2898648"/>
            <a:ext cx="2852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maintenance cost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4334256" y="3246120"/>
            <a:ext cx="28529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repairs and emergency part orders cost far more than planned servicing.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7662672" y="2057400"/>
            <a:ext cx="3310128" cy="1965960"/>
          </a:xfrm>
          <a:prstGeom prst="rect">
            <a:avLst/>
          </a:prstGeom>
          <a:solidFill>
            <a:srgbClr val="F7F8FA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882128" y="2231136"/>
            <a:ext cx="566928" cy="566928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7" name="Image 2" descr="assets/cloc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8191" y="2367199"/>
            <a:ext cx="294803" cy="294803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891272" y="2898648"/>
            <a:ext cx="2852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downtime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7891272" y="3246120"/>
            <a:ext cx="28529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unplanned stop directly eats into output and delivery schedules.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548640" y="4251960"/>
            <a:ext cx="3310128" cy="1417320"/>
          </a:xfrm>
          <a:prstGeom prst="rect">
            <a:avLst/>
          </a:prstGeom>
          <a:solidFill>
            <a:srgbClr val="F7F8FA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777240" y="4407408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22" name="Image 3" descr="assets/satellit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" y="4517136"/>
            <a:ext cx="237744" cy="23774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31520" y="4928616"/>
            <a:ext cx="2944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monitoring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731520" y="5212080"/>
            <a:ext cx="29443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floors still rely on manual inspection rounds, not live sensor data.</a:t>
            </a:r>
            <a:endParaRPr lang="en-US" sz="950" dirty="0"/>
          </a:p>
        </p:txBody>
      </p:sp>
      <p:sp>
        <p:nvSpPr>
          <p:cNvPr id="25" name="Shape 19"/>
          <p:cNvSpPr/>
          <p:nvPr/>
        </p:nvSpPr>
        <p:spPr>
          <a:xfrm>
            <a:off x="4105656" y="4251960"/>
            <a:ext cx="3310128" cy="1417320"/>
          </a:xfrm>
          <a:prstGeom prst="rect">
            <a:avLst/>
          </a:prstGeom>
          <a:solidFill>
            <a:srgbClr val="F7F8FA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334256" y="4407408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27" name="Image 4" descr="assets/wrench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3984" y="4517136"/>
            <a:ext cx="237744" cy="237744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288536" y="4928616"/>
            <a:ext cx="2944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Inefficient scheduling</a:t>
            </a:r>
            <a:endParaRPr lang="en-US" sz="1250" dirty="0"/>
          </a:p>
        </p:txBody>
      </p:sp>
      <p:sp>
        <p:nvSpPr>
          <p:cNvPr id="29" name="Text 22"/>
          <p:cNvSpPr/>
          <p:nvPr/>
        </p:nvSpPr>
        <p:spPr>
          <a:xfrm>
            <a:off x="4288536" y="5212080"/>
            <a:ext cx="29443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happens on a fixed calendar, not based on actual machine condition.</a:t>
            </a:r>
            <a:endParaRPr lang="en-US" sz="950" dirty="0"/>
          </a:p>
        </p:txBody>
      </p:sp>
      <p:sp>
        <p:nvSpPr>
          <p:cNvPr id="30" name="Shape 23"/>
          <p:cNvSpPr/>
          <p:nvPr/>
        </p:nvSpPr>
        <p:spPr>
          <a:xfrm>
            <a:off x="7662672" y="4251960"/>
            <a:ext cx="3310128" cy="1417320"/>
          </a:xfrm>
          <a:prstGeom prst="rect">
            <a:avLst/>
          </a:prstGeom>
          <a:solidFill>
            <a:srgbClr val="16243E"/>
          </a:solidFill>
          <a:ln/>
        </p:spPr>
      </p:sp>
      <p:sp>
        <p:nvSpPr>
          <p:cNvPr id="31" name="Text 24"/>
          <p:cNvSpPr/>
          <p:nvPr/>
        </p:nvSpPr>
        <p:spPr>
          <a:xfrm>
            <a:off x="7863840" y="4361688"/>
            <a:ext cx="2944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050" dirty="0"/>
          </a:p>
        </p:txBody>
      </p:sp>
      <p:sp>
        <p:nvSpPr>
          <p:cNvPr id="32" name="Text 25"/>
          <p:cNvSpPr/>
          <p:nvPr/>
        </p:nvSpPr>
        <p:spPr>
          <a:xfrm>
            <a:off x="7863840" y="4636008"/>
            <a:ext cx="28986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loss   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productivity   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Increased operational risk</a:t>
            </a:r>
            <a:endParaRPr lang="en-US" sz="1150" dirty="0"/>
          </a:p>
        </p:txBody>
      </p:sp>
      <p:sp>
        <p:nvSpPr>
          <p:cNvPr id="33" name="Text 2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TwinEdge AI  |  Tata Technologies InnoVent-27</a:t>
            </a:r>
            <a:endParaRPr lang="en-US" sz="900" dirty="0"/>
          </a:p>
        </p:txBody>
      </p:sp>
      <p:sp>
        <p:nvSpPr>
          <p:cNvPr id="34" name="Text 2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24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solution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TwinEdge AI</a:t>
            </a:r>
            <a:pPr indent="0" marL="0">
              <a:buNone/>
            </a:pPr>
            <a:r>
              <a:rPr lang="en-US" sz="1500" dirty="0">
                <a:solidFill>
                  <a:srgbClr val="DCE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an edge-AI-powered predictive maintenance system that watches every machine in real time and acts before failure happens.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3310128" cy="2011680"/>
          </a:xfrm>
          <a:prstGeom prst="rect">
            <a:avLst/>
          </a:prstGeom>
          <a:solidFill>
            <a:srgbClr val="1F3357"/>
          </a:solidFill>
          <a:ln/>
        </p:spPr>
      </p:sp>
      <p:sp>
        <p:nvSpPr>
          <p:cNvPr id="6" name="Shape 4"/>
          <p:cNvSpPr/>
          <p:nvPr/>
        </p:nvSpPr>
        <p:spPr>
          <a:xfrm>
            <a:off x="768096" y="2340864"/>
            <a:ext cx="566928" cy="566928"/>
          </a:xfrm>
          <a:prstGeom prst="ellipse">
            <a:avLst/>
          </a:prstGeom>
          <a:solidFill>
            <a:srgbClr val="5EEAD4"/>
          </a:solidFill>
          <a:ln/>
        </p:spPr>
      </p:sp>
      <p:pic>
        <p:nvPicPr>
          <p:cNvPr id="7" name="Image 0" descr="assets/chartline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4159" y="2476927"/>
            <a:ext cx="294803" cy="29480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3017520"/>
            <a:ext cx="2852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Monitors machine health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77240" y="3410712"/>
            <a:ext cx="2852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AB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Continuously streams sensor data — temperature, vibration, current — from every connected machine.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105656" y="2148840"/>
            <a:ext cx="3310128" cy="2011680"/>
          </a:xfrm>
          <a:prstGeom prst="rect">
            <a:avLst/>
          </a:prstGeom>
          <a:solidFill>
            <a:srgbClr val="1F3357"/>
          </a:solidFill>
          <a:ln/>
        </p:spPr>
      </p:sp>
      <p:sp>
        <p:nvSpPr>
          <p:cNvPr id="11" name="Shape 8"/>
          <p:cNvSpPr/>
          <p:nvPr/>
        </p:nvSpPr>
        <p:spPr>
          <a:xfrm>
            <a:off x="4325112" y="2340864"/>
            <a:ext cx="566928" cy="566928"/>
          </a:xfrm>
          <a:prstGeom prst="ellipse">
            <a:avLst/>
          </a:prstGeom>
          <a:solidFill>
            <a:srgbClr val="5EEAD4"/>
          </a:solidFill>
          <a:ln/>
        </p:spPr>
      </p:sp>
      <p:pic>
        <p:nvPicPr>
          <p:cNvPr id="12" name="Image 1" descr="assets/brain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1175" y="2476927"/>
            <a:ext cx="294803" cy="29480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334256" y="3017520"/>
            <a:ext cx="2852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failures early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4334256" y="3410712"/>
            <a:ext cx="2852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AB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trained model flags failure risk before a breakdown occurs, not after.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7662672" y="2148840"/>
            <a:ext cx="3310128" cy="2011680"/>
          </a:xfrm>
          <a:prstGeom prst="rect">
            <a:avLst/>
          </a:prstGeom>
          <a:solidFill>
            <a:srgbClr val="1F3357"/>
          </a:solidFill>
          <a:ln/>
        </p:spPr>
      </p:sp>
      <p:sp>
        <p:nvSpPr>
          <p:cNvPr id="16" name="Shape 12"/>
          <p:cNvSpPr/>
          <p:nvPr/>
        </p:nvSpPr>
        <p:spPr>
          <a:xfrm>
            <a:off x="7882128" y="2340864"/>
            <a:ext cx="566928" cy="566928"/>
          </a:xfrm>
          <a:prstGeom prst="ellipse">
            <a:avLst/>
          </a:prstGeom>
          <a:solidFill>
            <a:srgbClr val="5EEAD4"/>
          </a:solidFill>
          <a:ln/>
        </p:spPr>
      </p:sp>
      <p:pic>
        <p:nvPicPr>
          <p:cNvPr id="17" name="Image 2" descr="assets/desktop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8191" y="2476927"/>
            <a:ext cx="294803" cy="294803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891272" y="3017520"/>
            <a:ext cx="2852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a digital twin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7891272" y="3410712"/>
            <a:ext cx="2852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AB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virtual replica of each machine mirrors its real-world condition.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548640" y="4389120"/>
            <a:ext cx="3310128" cy="1417320"/>
          </a:xfrm>
          <a:prstGeom prst="rect">
            <a:avLst/>
          </a:prstGeom>
          <a:solidFill>
            <a:srgbClr val="1F3357"/>
          </a:solidFill>
          <a:ln/>
        </p:spPr>
      </p:sp>
      <p:sp>
        <p:nvSpPr>
          <p:cNvPr id="21" name="Shape 16"/>
          <p:cNvSpPr/>
          <p:nvPr/>
        </p:nvSpPr>
        <p:spPr>
          <a:xfrm>
            <a:off x="777240" y="4544568"/>
            <a:ext cx="457200" cy="457200"/>
          </a:xfrm>
          <a:prstGeom prst="ellipse">
            <a:avLst/>
          </a:prstGeom>
          <a:solidFill>
            <a:srgbClr val="5EEAD4"/>
          </a:solidFill>
          <a:ln/>
        </p:spPr>
      </p:sp>
      <p:pic>
        <p:nvPicPr>
          <p:cNvPr id="22" name="Image 3" descr="assets/wrench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" y="4654296"/>
            <a:ext cx="237744" cy="23774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31520" y="5065776"/>
            <a:ext cx="2944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Recommends maintenance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731520" y="5349240"/>
            <a:ext cx="29443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AAB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risk scores into clear, actionable maintenance guidance.</a:t>
            </a:r>
            <a:endParaRPr lang="en-US" sz="950" dirty="0"/>
          </a:p>
        </p:txBody>
      </p:sp>
      <p:sp>
        <p:nvSpPr>
          <p:cNvPr id="25" name="Shape 19"/>
          <p:cNvSpPr/>
          <p:nvPr/>
        </p:nvSpPr>
        <p:spPr>
          <a:xfrm>
            <a:off x="4105656" y="4389120"/>
            <a:ext cx="3310128" cy="1417320"/>
          </a:xfrm>
          <a:prstGeom prst="rect">
            <a:avLst/>
          </a:prstGeom>
          <a:solidFill>
            <a:srgbClr val="1F3357"/>
          </a:solidFill>
          <a:ln/>
        </p:spPr>
      </p:sp>
      <p:sp>
        <p:nvSpPr>
          <p:cNvPr id="26" name="Shape 20"/>
          <p:cNvSpPr/>
          <p:nvPr/>
        </p:nvSpPr>
        <p:spPr>
          <a:xfrm>
            <a:off x="4334256" y="4544568"/>
            <a:ext cx="457200" cy="457200"/>
          </a:xfrm>
          <a:prstGeom prst="ellipse">
            <a:avLst/>
          </a:prstGeom>
          <a:solidFill>
            <a:srgbClr val="5EEAD4"/>
          </a:solidFill>
          <a:ln/>
        </p:spPr>
      </p:sp>
      <p:pic>
        <p:nvPicPr>
          <p:cNvPr id="27" name="Image 4" descr="assets/rocket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3984" y="4654296"/>
            <a:ext cx="237744" cy="237744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288536" y="5065776"/>
            <a:ext cx="2944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Industry 4.0</a:t>
            </a:r>
            <a:endParaRPr lang="en-US" sz="1250" dirty="0"/>
          </a:p>
        </p:txBody>
      </p:sp>
      <p:sp>
        <p:nvSpPr>
          <p:cNvPr id="29" name="Text 22"/>
          <p:cNvSpPr/>
          <p:nvPr/>
        </p:nvSpPr>
        <p:spPr>
          <a:xfrm>
            <a:off x="4288536" y="5349240"/>
            <a:ext cx="29443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AAB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Lays the groundwork for connected, self-monitoring smart factories.</a:t>
            </a:r>
            <a:endParaRPr lang="en-US" sz="950" dirty="0"/>
          </a:p>
        </p:txBody>
      </p:sp>
      <p:sp>
        <p:nvSpPr>
          <p:cNvPr id="30" name="Shape 23"/>
          <p:cNvSpPr/>
          <p:nvPr/>
        </p:nvSpPr>
        <p:spPr>
          <a:xfrm>
            <a:off x="7662672" y="4389120"/>
            <a:ext cx="3310128" cy="14173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1" name="Shape 24"/>
          <p:cNvSpPr/>
          <p:nvPr/>
        </p:nvSpPr>
        <p:spPr>
          <a:xfrm>
            <a:off x="7891272" y="4544568"/>
            <a:ext cx="457200" cy="457200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32" name="Image 5" descr="assets/bullseye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01000" y="4654296"/>
            <a:ext cx="237744" cy="237744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7845552" y="5065776"/>
            <a:ext cx="2944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system, full lifecycle</a:t>
            </a:r>
            <a:endParaRPr lang="en-US" sz="1250" dirty="0"/>
          </a:p>
        </p:txBody>
      </p:sp>
      <p:sp>
        <p:nvSpPr>
          <p:cNvPr id="34" name="Text 26"/>
          <p:cNvSpPr/>
          <p:nvPr/>
        </p:nvSpPr>
        <p:spPr>
          <a:xfrm>
            <a:off x="7845552" y="5349240"/>
            <a:ext cx="29443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0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sensor signal to a maintenance ticket in five connected stages.</a:t>
            </a:r>
            <a:endParaRPr lang="en-US" sz="950" dirty="0"/>
          </a:p>
        </p:txBody>
      </p:sp>
      <p:sp>
        <p:nvSpPr>
          <p:cNvPr id="35" name="Text 2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TwinEdge AI  |  Tata Technologies InnoVent-27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flows left to right through five stages — with retrained models flowing back to the edge.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900684" y="2331720"/>
            <a:ext cx="1828800" cy="1234440"/>
          </a:xfrm>
          <a:prstGeom prst="rect">
            <a:avLst/>
          </a:prstGeom>
          <a:solidFill>
            <a:srgbClr val="16243E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6" name="Image 0" descr="assets/industry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2204" y="246888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73836" y="3008376"/>
            <a:ext cx="1682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machine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973836" y="3282696"/>
            <a:ext cx="1682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5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sensors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973836" y="203911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747772" y="2866644"/>
            <a:ext cx="274320" cy="164592"/>
          </a:xfrm>
          <a:prstGeom prst="rightArrow">
            <a:avLst/>
          </a:prstGeom>
          <a:solidFill>
            <a:srgbClr val="64748B"/>
          </a:solidFill>
          <a:ln/>
        </p:spPr>
      </p:sp>
      <p:sp>
        <p:nvSpPr>
          <p:cNvPr id="11" name="Shape 8"/>
          <p:cNvSpPr/>
          <p:nvPr/>
        </p:nvSpPr>
        <p:spPr>
          <a:xfrm>
            <a:off x="3040380" y="2331720"/>
            <a:ext cx="1828800" cy="1234440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2" name="Image 1" descr="assets/microchip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1900" y="246888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113532" y="3008376"/>
            <a:ext cx="1682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AI gateway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3113532" y="3282696"/>
            <a:ext cx="1682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5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Pre-processing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3113532" y="203911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887468" y="2866644"/>
            <a:ext cx="274320" cy="164592"/>
          </a:xfrm>
          <a:prstGeom prst="rightArrow">
            <a:avLst/>
          </a:prstGeom>
          <a:solidFill>
            <a:srgbClr val="64748B"/>
          </a:solidFill>
          <a:ln/>
        </p:spPr>
      </p:sp>
      <p:sp>
        <p:nvSpPr>
          <p:cNvPr id="17" name="Shape 13"/>
          <p:cNvSpPr/>
          <p:nvPr/>
        </p:nvSpPr>
        <p:spPr>
          <a:xfrm>
            <a:off x="5180076" y="2331720"/>
            <a:ext cx="1828800" cy="1234440"/>
          </a:xfrm>
          <a:prstGeom prst="rect">
            <a:avLst/>
          </a:prstGeom>
          <a:solidFill>
            <a:srgbClr val="D97706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8" name="Image 2" descr="assets/brain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1596" y="2468880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253228" y="3008376"/>
            <a:ext cx="1682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 engine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5253228" y="3282696"/>
            <a:ext cx="1682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5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5253228" y="203911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7027164" y="2866644"/>
            <a:ext cx="274320" cy="164592"/>
          </a:xfrm>
          <a:prstGeom prst="rightArrow">
            <a:avLst/>
          </a:prstGeom>
          <a:solidFill>
            <a:srgbClr val="64748B"/>
          </a:solidFill>
          <a:ln/>
        </p:spPr>
      </p:sp>
      <p:sp>
        <p:nvSpPr>
          <p:cNvPr id="23" name="Shape 18"/>
          <p:cNvSpPr/>
          <p:nvPr/>
        </p:nvSpPr>
        <p:spPr>
          <a:xfrm>
            <a:off x="7319772" y="2331720"/>
            <a:ext cx="1828800" cy="1234440"/>
          </a:xfrm>
          <a:prstGeom prst="rect">
            <a:avLst/>
          </a:prstGeom>
          <a:solidFill>
            <a:srgbClr val="5B5FC7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24" name="Image 3" descr="assets/cloud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51292" y="2468880"/>
            <a:ext cx="365760" cy="36576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392924" y="3008376"/>
            <a:ext cx="1682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storage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7392924" y="3282696"/>
            <a:ext cx="1682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5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retraining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7392924" y="203911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9166860" y="2866644"/>
            <a:ext cx="274320" cy="164592"/>
          </a:xfrm>
          <a:prstGeom prst="rightArrow">
            <a:avLst/>
          </a:prstGeom>
          <a:solidFill>
            <a:srgbClr val="64748B"/>
          </a:solidFill>
          <a:ln/>
        </p:spPr>
      </p:sp>
      <p:sp>
        <p:nvSpPr>
          <p:cNvPr id="29" name="Shape 23"/>
          <p:cNvSpPr/>
          <p:nvPr/>
        </p:nvSpPr>
        <p:spPr>
          <a:xfrm>
            <a:off x="9459468" y="2331720"/>
            <a:ext cx="1828800" cy="1234440"/>
          </a:xfrm>
          <a:prstGeom prst="rect">
            <a:avLst/>
          </a:prstGeom>
          <a:solidFill>
            <a:srgbClr val="0F766E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30" name="Image 4" descr="assets/desktop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90988" y="2468880"/>
            <a:ext cx="365760" cy="36576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9532620" y="3008376"/>
            <a:ext cx="1682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twin</a:t>
            </a:r>
            <a:endParaRPr lang="en-US" sz="1100" dirty="0"/>
          </a:p>
        </p:txBody>
      </p:sp>
      <p:sp>
        <p:nvSpPr>
          <p:cNvPr id="32" name="Text 25"/>
          <p:cNvSpPr/>
          <p:nvPr/>
        </p:nvSpPr>
        <p:spPr>
          <a:xfrm>
            <a:off x="9532620" y="3282696"/>
            <a:ext cx="1682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5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&amp; insights</a:t>
            </a:r>
            <a:endParaRPr lang="en-US" sz="900" dirty="0"/>
          </a:p>
        </p:txBody>
      </p:sp>
      <p:sp>
        <p:nvSpPr>
          <p:cNvPr id="33" name="Text 26"/>
          <p:cNvSpPr/>
          <p:nvPr/>
        </p:nvSpPr>
        <p:spPr>
          <a:xfrm>
            <a:off x="9532620" y="203911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4" name="Shape 27"/>
          <p:cNvSpPr/>
          <p:nvPr/>
        </p:nvSpPr>
        <p:spPr>
          <a:xfrm>
            <a:off x="6094476" y="2039112"/>
            <a:ext cx="2139696" cy="0"/>
          </a:xfrm>
          <a:prstGeom prst="line">
            <a:avLst/>
          </a:prstGeom>
          <a:noFill/>
          <a:ln w="19050">
            <a:solidFill>
              <a:srgbClr val="5B5FC7"/>
            </a:solidFill>
            <a:prstDash val="dash"/>
            <a:headEnd type="triangle"/>
            <a:tailEnd type="none"/>
          </a:ln>
        </p:spPr>
      </p:sp>
      <p:sp>
        <p:nvSpPr>
          <p:cNvPr id="35" name="Shape 28"/>
          <p:cNvSpPr/>
          <p:nvPr/>
        </p:nvSpPr>
        <p:spPr>
          <a:xfrm>
            <a:off x="6094476" y="2039112"/>
            <a:ext cx="0" cy="292608"/>
          </a:xfrm>
          <a:prstGeom prst="line">
            <a:avLst/>
          </a:prstGeom>
          <a:noFill/>
          <a:ln w="19050">
            <a:solidFill>
              <a:srgbClr val="5B5FC7"/>
            </a:solidFill>
            <a:prstDash val="dash"/>
          </a:ln>
        </p:spPr>
      </p:sp>
      <p:sp>
        <p:nvSpPr>
          <p:cNvPr id="36" name="Shape 29"/>
          <p:cNvSpPr/>
          <p:nvPr/>
        </p:nvSpPr>
        <p:spPr>
          <a:xfrm>
            <a:off x="8234172" y="2039112"/>
            <a:ext cx="0" cy="292608"/>
          </a:xfrm>
          <a:prstGeom prst="line">
            <a:avLst/>
          </a:prstGeom>
          <a:noFill/>
          <a:ln w="19050">
            <a:solidFill>
              <a:srgbClr val="5B5FC7"/>
            </a:solidFill>
            <a:prstDash val="dash"/>
          </a:ln>
        </p:spPr>
      </p:sp>
      <p:sp>
        <p:nvSpPr>
          <p:cNvPr id="37" name="Text 30"/>
          <p:cNvSpPr/>
          <p:nvPr/>
        </p:nvSpPr>
        <p:spPr>
          <a:xfrm>
            <a:off x="5820156" y="1783080"/>
            <a:ext cx="2688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B5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Retrained model feeds back to the edge</a:t>
            </a:r>
            <a:endParaRPr lang="en-US" sz="900" dirty="0"/>
          </a:p>
        </p:txBody>
      </p:sp>
      <p:sp>
        <p:nvSpPr>
          <p:cNvPr id="38" name="Shape 31"/>
          <p:cNvSpPr/>
          <p:nvPr/>
        </p:nvSpPr>
        <p:spPr>
          <a:xfrm>
            <a:off x="6094476" y="3566160"/>
            <a:ext cx="0" cy="502920"/>
          </a:xfrm>
          <a:prstGeom prst="line">
            <a:avLst/>
          </a:prstGeom>
          <a:noFill/>
          <a:ln w="19050">
            <a:solidFill>
              <a:srgbClr val="D97706"/>
            </a:solidFill>
            <a:prstDash val="dash"/>
            <a:tailEnd type="triangle"/>
          </a:ln>
        </p:spPr>
      </p:sp>
      <p:sp>
        <p:nvSpPr>
          <p:cNvPr id="39" name="Shape 32"/>
          <p:cNvSpPr/>
          <p:nvPr/>
        </p:nvSpPr>
        <p:spPr>
          <a:xfrm>
            <a:off x="5088636" y="4069080"/>
            <a:ext cx="2011680" cy="38404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0" name="Text 33"/>
          <p:cNvSpPr/>
          <p:nvPr/>
        </p:nvSpPr>
        <p:spPr>
          <a:xfrm>
            <a:off x="5088636" y="406908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&amp; notifications</a:t>
            </a:r>
            <a:endParaRPr lang="en-US" sz="1100" dirty="0"/>
          </a:p>
        </p:txBody>
      </p:sp>
      <p:sp>
        <p:nvSpPr>
          <p:cNvPr id="41" name="Shape 34"/>
          <p:cNvSpPr/>
          <p:nvPr/>
        </p:nvSpPr>
        <p:spPr>
          <a:xfrm>
            <a:off x="6094476" y="4453128"/>
            <a:ext cx="-2359152" cy="237744"/>
          </a:xfrm>
          <a:prstGeom prst="line">
            <a:avLst/>
          </a:prstGeom>
          <a:noFill/>
          <a:ln w="12700">
            <a:solidFill>
              <a:srgbClr val="D97706"/>
            </a:solidFill>
            <a:prstDash val="dash"/>
          </a:ln>
        </p:spPr>
      </p:sp>
      <p:sp>
        <p:nvSpPr>
          <p:cNvPr id="42" name="Shape 35"/>
          <p:cNvSpPr/>
          <p:nvPr/>
        </p:nvSpPr>
        <p:spPr>
          <a:xfrm>
            <a:off x="3049524" y="4690872"/>
            <a:ext cx="1371600" cy="365760"/>
          </a:xfrm>
          <a:prstGeom prst="roundRect">
            <a:avLst>
              <a:gd name="adj" fmla="val 15000"/>
            </a:avLst>
          </a:prstGeom>
          <a:solidFill>
            <a:srgbClr val="F7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36"/>
          <p:cNvSpPr/>
          <p:nvPr/>
        </p:nvSpPr>
        <p:spPr>
          <a:xfrm>
            <a:off x="3049524" y="469087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6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000" dirty="0"/>
          </a:p>
        </p:txBody>
      </p:sp>
      <p:sp>
        <p:nvSpPr>
          <p:cNvPr id="44" name="Shape 37"/>
          <p:cNvSpPr/>
          <p:nvPr/>
        </p:nvSpPr>
        <p:spPr>
          <a:xfrm>
            <a:off x="6094476" y="4453128"/>
            <a:ext cx="-786384" cy="237744"/>
          </a:xfrm>
          <a:prstGeom prst="line">
            <a:avLst/>
          </a:prstGeom>
          <a:noFill/>
          <a:ln w="12700">
            <a:solidFill>
              <a:srgbClr val="D97706"/>
            </a:solidFill>
            <a:prstDash val="dash"/>
          </a:ln>
        </p:spPr>
      </p:sp>
      <p:sp>
        <p:nvSpPr>
          <p:cNvPr id="45" name="Shape 38"/>
          <p:cNvSpPr/>
          <p:nvPr/>
        </p:nvSpPr>
        <p:spPr>
          <a:xfrm>
            <a:off x="4622292" y="4690872"/>
            <a:ext cx="1371600" cy="365760"/>
          </a:xfrm>
          <a:prstGeom prst="roundRect">
            <a:avLst>
              <a:gd name="adj" fmla="val 15000"/>
            </a:avLst>
          </a:prstGeom>
          <a:solidFill>
            <a:srgbClr val="F7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39"/>
          <p:cNvSpPr/>
          <p:nvPr/>
        </p:nvSpPr>
        <p:spPr>
          <a:xfrm>
            <a:off x="4622292" y="469087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6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</a:t>
            </a:r>
            <a:endParaRPr lang="en-US" sz="1000" dirty="0"/>
          </a:p>
        </p:txBody>
      </p:sp>
      <p:sp>
        <p:nvSpPr>
          <p:cNvPr id="47" name="Shape 40"/>
          <p:cNvSpPr/>
          <p:nvPr/>
        </p:nvSpPr>
        <p:spPr>
          <a:xfrm>
            <a:off x="6094476" y="4453128"/>
            <a:ext cx="786384" cy="237744"/>
          </a:xfrm>
          <a:prstGeom prst="line">
            <a:avLst/>
          </a:prstGeom>
          <a:noFill/>
          <a:ln w="12700">
            <a:solidFill>
              <a:srgbClr val="D97706"/>
            </a:solidFill>
            <a:prstDash val="dash"/>
          </a:ln>
        </p:spPr>
      </p:sp>
      <p:sp>
        <p:nvSpPr>
          <p:cNvPr id="48" name="Shape 41"/>
          <p:cNvSpPr/>
          <p:nvPr/>
        </p:nvSpPr>
        <p:spPr>
          <a:xfrm>
            <a:off x="6195060" y="4690872"/>
            <a:ext cx="1371600" cy="365760"/>
          </a:xfrm>
          <a:prstGeom prst="roundRect">
            <a:avLst>
              <a:gd name="adj" fmla="val 15000"/>
            </a:avLst>
          </a:prstGeom>
          <a:solidFill>
            <a:srgbClr val="F7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2"/>
          <p:cNvSpPr/>
          <p:nvPr/>
        </p:nvSpPr>
        <p:spPr>
          <a:xfrm>
            <a:off x="6195060" y="469087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6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</a:t>
            </a:r>
            <a:endParaRPr lang="en-US" sz="1000" dirty="0"/>
          </a:p>
        </p:txBody>
      </p:sp>
      <p:sp>
        <p:nvSpPr>
          <p:cNvPr id="50" name="Shape 43"/>
          <p:cNvSpPr/>
          <p:nvPr/>
        </p:nvSpPr>
        <p:spPr>
          <a:xfrm>
            <a:off x="6094476" y="4453128"/>
            <a:ext cx="2359152" cy="237744"/>
          </a:xfrm>
          <a:prstGeom prst="line">
            <a:avLst/>
          </a:prstGeom>
          <a:noFill/>
          <a:ln w="12700">
            <a:solidFill>
              <a:srgbClr val="D97706"/>
            </a:solidFill>
            <a:prstDash val="dash"/>
          </a:ln>
        </p:spPr>
      </p:sp>
      <p:sp>
        <p:nvSpPr>
          <p:cNvPr id="51" name="Shape 44"/>
          <p:cNvSpPr/>
          <p:nvPr/>
        </p:nvSpPr>
        <p:spPr>
          <a:xfrm>
            <a:off x="7767828" y="4690872"/>
            <a:ext cx="1371600" cy="365760"/>
          </a:xfrm>
          <a:prstGeom prst="roundRect">
            <a:avLst>
              <a:gd name="adj" fmla="val 15000"/>
            </a:avLst>
          </a:prstGeom>
          <a:solidFill>
            <a:srgbClr val="F7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Text 45"/>
          <p:cNvSpPr/>
          <p:nvPr/>
        </p:nvSpPr>
        <p:spPr>
          <a:xfrm>
            <a:off x="7767828" y="469087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6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000" dirty="0"/>
          </a:p>
        </p:txBody>
      </p:sp>
      <p:sp>
        <p:nvSpPr>
          <p:cNvPr id="53" name="Text 46"/>
          <p:cNvSpPr/>
          <p:nvPr/>
        </p:nvSpPr>
        <p:spPr>
          <a:xfrm>
            <a:off x="548640" y="617220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 →  edge  →  AI prediction  →  cloud storage  →  digital twin  →  action</a:t>
            </a:r>
            <a:endParaRPr lang="en-US" sz="1050" dirty="0"/>
          </a:p>
        </p:txBody>
      </p:sp>
      <p:sp>
        <p:nvSpPr>
          <p:cNvPr id="54" name="Text 4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TwinEdge AI  |  Tata Technologies InnoVent-27</a:t>
            </a:r>
            <a:endParaRPr lang="en-US" sz="900" dirty="0"/>
          </a:p>
        </p:txBody>
      </p:sp>
      <p:sp>
        <p:nvSpPr>
          <p:cNvPr id="55" name="Text 4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993392" cy="3108960"/>
          </a:xfrm>
          <a:prstGeom prst="rect">
            <a:avLst/>
          </a:prstGeom>
          <a:solidFill>
            <a:srgbClr val="16243E"/>
          </a:solidFill>
          <a:ln/>
        </p:spPr>
      </p:sp>
      <p:pic>
        <p:nvPicPr>
          <p:cNvPr id="5" name="Image 0" descr="assets/cog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9304" y="1984248"/>
            <a:ext cx="512064" cy="51206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2606040"/>
            <a:ext cx="1719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685800" y="3200400"/>
            <a:ext cx="171907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E5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724912" y="1691640"/>
            <a:ext cx="1993392" cy="310896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9" name="Image 1" descr="assets/flas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5576" y="1984248"/>
            <a:ext cx="512064" cy="51206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862072" y="2606040"/>
            <a:ext cx="1719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ML libraries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2862072" y="3200400"/>
            <a:ext cx="171907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E5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1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E5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11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E5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901184" y="1691640"/>
            <a:ext cx="1993392" cy="3108960"/>
          </a:xfrm>
          <a:prstGeom prst="rect">
            <a:avLst/>
          </a:prstGeom>
          <a:solidFill>
            <a:srgbClr val="16243E"/>
          </a:solidFill>
          <a:ln/>
        </p:spPr>
      </p:sp>
      <p:pic>
        <p:nvPicPr>
          <p:cNvPr id="13" name="Image 2" descr="assets/brain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1848" y="1984248"/>
            <a:ext cx="512064" cy="51206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038344" y="2606040"/>
            <a:ext cx="1719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</a:t>
            </a:r>
            <a:endParaRPr lang="en-US" sz="1250" dirty="0"/>
          </a:p>
        </p:txBody>
      </p:sp>
      <p:sp>
        <p:nvSpPr>
          <p:cNvPr id="15" name="Text 10"/>
          <p:cNvSpPr/>
          <p:nvPr/>
        </p:nvSpPr>
        <p:spPr>
          <a:xfrm>
            <a:off x="5038344" y="3200400"/>
            <a:ext cx="171907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E5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classifier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7077456" y="1691640"/>
            <a:ext cx="1993392" cy="310896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17" name="Image 3" descr="assets/chartlin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8120" y="1984248"/>
            <a:ext cx="512064" cy="51206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214616" y="2606040"/>
            <a:ext cx="1719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250" dirty="0"/>
          </a:p>
        </p:txBody>
      </p:sp>
      <p:sp>
        <p:nvSpPr>
          <p:cNvPr id="19" name="Text 13"/>
          <p:cNvSpPr/>
          <p:nvPr/>
        </p:nvSpPr>
        <p:spPr>
          <a:xfrm>
            <a:off x="7214616" y="3200400"/>
            <a:ext cx="171907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E5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endParaRPr lang="en-US" sz="11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E5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Seaborn</a:t>
            </a:r>
            <a:endParaRPr lang="en-US" sz="11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E5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9253728" y="1691640"/>
            <a:ext cx="1993392" cy="3108960"/>
          </a:xfrm>
          <a:prstGeom prst="rect">
            <a:avLst/>
          </a:prstGeom>
          <a:solidFill>
            <a:srgbClr val="16243E"/>
          </a:solidFill>
          <a:ln/>
        </p:spPr>
      </p:sp>
      <p:pic>
        <p:nvPicPr>
          <p:cNvPr id="21" name="Image 4" descr="assets/desktop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94392" y="1984248"/>
            <a:ext cx="512064" cy="51206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9390888" y="2606040"/>
            <a:ext cx="1719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</a:t>
            </a:r>
            <a:endParaRPr lang="en-US" sz="1250" dirty="0"/>
          </a:p>
        </p:txBody>
      </p:sp>
      <p:sp>
        <p:nvSpPr>
          <p:cNvPr id="23" name="Text 16"/>
          <p:cNvSpPr/>
          <p:nvPr/>
        </p:nvSpPr>
        <p:spPr>
          <a:xfrm>
            <a:off x="9390888" y="3200400"/>
            <a:ext cx="171907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E5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UI</a:t>
            </a:r>
            <a:endParaRPr lang="en-US" sz="1100" dirty="0"/>
          </a:p>
        </p:txBody>
      </p:sp>
      <p:sp>
        <p:nvSpPr>
          <p:cNvPr id="24" name="Text 1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TwinEdge AI  |  Tata Technologies InnoVent-27</a:t>
            </a:r>
            <a:endParaRPr lang="en-US" sz="900" dirty="0"/>
          </a:p>
        </p:txBody>
      </p:sp>
      <p:sp>
        <p:nvSpPr>
          <p:cNvPr id="25" name="Text 1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DATA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120640" cy="777240"/>
          </a:xfrm>
          <a:prstGeom prst="rect">
            <a:avLst/>
          </a:prstGeom>
          <a:solidFill>
            <a:srgbClr val="16243E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46304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AI4I 2020 predictive maintenance dataset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548640" y="2468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94360" y="2898648"/>
            <a:ext cx="91440" cy="914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83464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temperature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94360" y="3319272"/>
            <a:ext cx="91440" cy="914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255264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temperature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94360" y="3739896"/>
            <a:ext cx="91440" cy="914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67588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Rotational speed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94360" y="4160520"/>
            <a:ext cx="91440" cy="914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09651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Torque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94360" y="4581144"/>
            <a:ext cx="91440" cy="914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517136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wear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5074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TYPES TRACKED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5394960"/>
            <a:ext cx="950976" cy="777240"/>
          </a:xfrm>
          <a:prstGeom prst="roundRect">
            <a:avLst>
              <a:gd name="adj" fmla="val 7059"/>
            </a:avLst>
          </a:prstGeom>
          <a:solidFill>
            <a:srgbClr val="F7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5468112"/>
            <a:ext cx="9509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HDF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85216" y="5760720"/>
            <a:ext cx="877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 dissipation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1591056" y="5394960"/>
            <a:ext cx="950976" cy="777240"/>
          </a:xfrm>
          <a:prstGeom prst="roundRect">
            <a:avLst>
              <a:gd name="adj" fmla="val 7059"/>
            </a:avLst>
          </a:prstGeom>
          <a:solidFill>
            <a:srgbClr val="F7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91056" y="5468112"/>
            <a:ext cx="9509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OSF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627632" y="5760720"/>
            <a:ext cx="877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Overstrain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2633472" y="5394960"/>
            <a:ext cx="950976" cy="777240"/>
          </a:xfrm>
          <a:prstGeom prst="roundRect">
            <a:avLst>
              <a:gd name="adj" fmla="val 7059"/>
            </a:avLst>
          </a:prstGeom>
          <a:solidFill>
            <a:srgbClr val="F7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633472" y="5468112"/>
            <a:ext cx="9509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PWF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670048" y="5760720"/>
            <a:ext cx="877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3675888" y="5394960"/>
            <a:ext cx="950976" cy="777240"/>
          </a:xfrm>
          <a:prstGeom prst="roundRect">
            <a:avLst>
              <a:gd name="adj" fmla="val 7059"/>
            </a:avLst>
          </a:prstGeom>
          <a:solidFill>
            <a:srgbClr val="F7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75888" y="5468112"/>
            <a:ext cx="9509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TWF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712464" y="5760720"/>
            <a:ext cx="877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wear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4718304" y="5394960"/>
            <a:ext cx="950976" cy="777240"/>
          </a:xfrm>
          <a:prstGeom prst="roundRect">
            <a:avLst>
              <a:gd name="adj" fmla="val 7059"/>
            </a:avLst>
          </a:prstGeom>
          <a:solidFill>
            <a:srgbClr val="F7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18304" y="5468112"/>
            <a:ext cx="9509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RNF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754880" y="5760720"/>
            <a:ext cx="877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5943600" y="1463040"/>
            <a:ext cx="5669280" cy="4709160"/>
          </a:xfrm>
          <a:prstGeom prst="rect">
            <a:avLst/>
          </a:prstGeom>
          <a:solidFill>
            <a:srgbClr val="F7F8FA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172200" y="1627632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 feature importance</a:t>
            </a:r>
            <a:endParaRPr lang="en-US" sz="1250" dirty="0"/>
          </a:p>
        </p:txBody>
      </p:sp>
      <p:graphicFrame>
        <p:nvGraphicFramePr>
          <p:cNvPr id="35" name="Chart 0" descr=""/>
          <p:cNvGraphicFramePr/>
          <p:nvPr/>
        </p:nvGraphicFramePr>
        <p:xfrm>
          <a:off x="6126480" y="2011680"/>
          <a:ext cx="534924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6" name="Text 33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TwinEdge AI  |  Tata Technologies InnoVent-27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24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performance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514600" cy="1691640"/>
          </a:xfrm>
          <a:prstGeom prst="rect">
            <a:avLst/>
          </a:prstGeom>
          <a:solidFill>
            <a:srgbClr val="1F3357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64792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99.9%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267919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291840" y="1600200"/>
            <a:ext cx="2514600" cy="1691640"/>
          </a:xfrm>
          <a:prstGeom prst="rect">
            <a:avLst/>
          </a:prstGeom>
          <a:solidFill>
            <a:srgbClr val="1F3357"/>
          </a:solidFill>
          <a:ln/>
        </p:spPr>
      </p:sp>
      <p:sp>
        <p:nvSpPr>
          <p:cNvPr id="8" name="Text 6"/>
          <p:cNvSpPr/>
          <p:nvPr/>
        </p:nvSpPr>
        <p:spPr>
          <a:xfrm>
            <a:off x="3291840" y="1764792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1.00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291840" y="267919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035040" y="1600200"/>
            <a:ext cx="2514600" cy="1691640"/>
          </a:xfrm>
          <a:prstGeom prst="rect">
            <a:avLst/>
          </a:prstGeom>
          <a:solidFill>
            <a:srgbClr val="1F3357"/>
          </a:solidFill>
          <a:ln/>
        </p:spPr>
      </p:sp>
      <p:sp>
        <p:nvSpPr>
          <p:cNvPr id="11" name="Text 9"/>
          <p:cNvSpPr/>
          <p:nvPr/>
        </p:nvSpPr>
        <p:spPr>
          <a:xfrm>
            <a:off x="6035040" y="1764792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0.98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035040" y="267919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(macro avg)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778240" y="1600200"/>
            <a:ext cx="2514600" cy="1691640"/>
          </a:xfrm>
          <a:prstGeom prst="rect">
            <a:avLst/>
          </a:prstGeom>
          <a:solidFill>
            <a:srgbClr val="1F3357"/>
          </a:solidFill>
          <a:ln/>
        </p:spPr>
      </p:sp>
      <p:sp>
        <p:nvSpPr>
          <p:cNvPr id="14" name="Text 12"/>
          <p:cNvSpPr/>
          <p:nvPr/>
        </p:nvSpPr>
        <p:spPr>
          <a:xfrm>
            <a:off x="8778240" y="1764792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0.99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8778240" y="267919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 (macro avg)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8640" y="36118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report (test set)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977640"/>
          <a:ext cx="6492240" cy="1737360"/>
        </p:xfrm>
        <a:graphic>
          <a:graphicData uri="http://schemas.openxmlformats.org/drawingml/2006/table">
            <a:tbl>
              <a:tblPr/>
              <a:tblGrid>
                <a:gridCol w="1737360"/>
                <a:gridCol w="1188720"/>
                <a:gridCol w="1188720"/>
                <a:gridCol w="1188720"/>
                <a:gridCol w="1188720"/>
              </a:tblGrid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4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3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4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3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4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3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F1-score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4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3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4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357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DCE3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(Healthy)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4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CE3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4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CE3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4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CE3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4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CE3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1939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4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E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DCE3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(Failure)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4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CE3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4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CE3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4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CE3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4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CE3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4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E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EEA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Weighted avg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4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5EEA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4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5EEA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4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5EEA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4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5EEA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4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E"/>
                    </a:solidFill>
                  </a:tcPr>
                </a:tc>
              </a:tr>
            </a:tbl>
          </a:graphicData>
        </a:graphic>
      </p:graphicFrame>
      <p:sp>
        <p:nvSpPr>
          <p:cNvPr id="18" name="Shape 15"/>
          <p:cNvSpPr/>
          <p:nvPr/>
        </p:nvSpPr>
        <p:spPr>
          <a:xfrm>
            <a:off x="7315200" y="3611880"/>
            <a:ext cx="4297680" cy="210312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19" name="Image 0" descr="assets/chec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3822192"/>
            <a:ext cx="457200" cy="45720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8183880" y="382219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enough for production use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7589520" y="4434840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0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61 true failure cases in the test set, the model correctly caught 59 — a 97% recall on the minority failure class, which is the harder class to detect.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TwinEdge AI  |  Tata Technologies InnoVent-27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INSIGHT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importance analysis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6949440" cy="4663440"/>
          </a:xfrm>
          <a:prstGeom prst="rect">
            <a:avLst/>
          </a:prstGeom>
          <a:solidFill>
            <a:srgbClr val="F7F8FA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66420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731520" y="2011680"/>
          <a:ext cx="658368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7818120" y="1600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818120" y="18745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influencing failure modes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7818120" y="2423160"/>
            <a:ext cx="502920" cy="5029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0" name="Text 7"/>
          <p:cNvSpPr/>
          <p:nvPr/>
        </p:nvSpPr>
        <p:spPr>
          <a:xfrm>
            <a:off x="7818120" y="2423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HDF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458200" y="2404872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 dissipation failure — strongest predictor of breakdown.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7818120" y="3136392"/>
            <a:ext cx="502920" cy="5029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3" name="Text 10"/>
          <p:cNvSpPr/>
          <p:nvPr/>
        </p:nvSpPr>
        <p:spPr>
          <a:xfrm>
            <a:off x="7818120" y="31363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OSF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458200" y="3118104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Overstrain failure — second highest contributor.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7818120" y="3849624"/>
            <a:ext cx="502920" cy="5029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6" name="Text 13"/>
          <p:cNvSpPr/>
          <p:nvPr/>
        </p:nvSpPr>
        <p:spPr>
          <a:xfrm>
            <a:off x="7818120" y="38496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PWF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8458200" y="3831336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failure — consistently signals abnormal load.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7818120" y="4562856"/>
            <a:ext cx="502920" cy="5029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9" name="Text 16"/>
          <p:cNvSpPr/>
          <p:nvPr/>
        </p:nvSpPr>
        <p:spPr>
          <a:xfrm>
            <a:off x="7818120" y="45628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TWF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8458200" y="4544568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wear failure — gradual degradation signal.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7818120" y="534924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four failure modes drive the model's risk scoring, helping engineers prioritize the right inspections.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TwinEdge AI  |  Tata Technologies InnoVent-27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624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impact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394960" cy="475488"/>
          </a:xfrm>
          <a:prstGeom prst="rect">
            <a:avLst/>
          </a:prstGeom>
          <a:solidFill>
            <a:srgbClr val="1F3357"/>
          </a:solidFill>
          <a:ln/>
        </p:spPr>
      </p:sp>
      <p:pic>
        <p:nvPicPr>
          <p:cNvPr id="6" name="Image 0" descr="assets/clock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874520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1783080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downtime by 30–40%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48640" y="2350008"/>
            <a:ext cx="5394960" cy="475488"/>
          </a:xfrm>
          <a:prstGeom prst="rect">
            <a:avLst/>
          </a:prstGeom>
          <a:solidFill>
            <a:srgbClr val="1F3357"/>
          </a:solidFill>
          <a:ln/>
        </p:spPr>
      </p:sp>
      <p:pic>
        <p:nvPicPr>
          <p:cNvPr id="9" name="Image 1" descr="assets/dollar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441448"/>
            <a:ext cx="292608" cy="29260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97280" y="2350008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maintenance costs by 20–25%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548640" y="2916936"/>
            <a:ext cx="5394960" cy="475488"/>
          </a:xfrm>
          <a:prstGeom prst="rect">
            <a:avLst/>
          </a:prstGeom>
          <a:solidFill>
            <a:srgbClr val="1F3357"/>
          </a:solidFill>
          <a:ln/>
        </p:spPr>
      </p:sp>
      <p:pic>
        <p:nvPicPr>
          <p:cNvPr id="12" name="Image 2" descr="assets/chartline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008376"/>
            <a:ext cx="292608" cy="29260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97280" y="2916936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equipment life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548640" y="3483864"/>
            <a:ext cx="5394960" cy="475488"/>
          </a:xfrm>
          <a:prstGeom prst="rect">
            <a:avLst/>
          </a:prstGeom>
          <a:solidFill>
            <a:srgbClr val="1F3357"/>
          </a:solidFill>
          <a:ln/>
        </p:spPr>
      </p:sp>
      <p:pic>
        <p:nvPicPr>
          <p:cNvPr id="15" name="Image 3" descr="assets/cogs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575304"/>
            <a:ext cx="292608" cy="29260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097280" y="3483864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operational efficiency</a:t>
            </a:r>
            <a:endParaRPr lang="en-US" sz="1250" dirty="0"/>
          </a:p>
        </p:txBody>
      </p:sp>
      <p:sp>
        <p:nvSpPr>
          <p:cNvPr id="17" name="Shape 11"/>
          <p:cNvSpPr/>
          <p:nvPr/>
        </p:nvSpPr>
        <p:spPr>
          <a:xfrm>
            <a:off x="548640" y="4050792"/>
            <a:ext cx="5394960" cy="475488"/>
          </a:xfrm>
          <a:prstGeom prst="rect">
            <a:avLst/>
          </a:prstGeom>
          <a:solidFill>
            <a:srgbClr val="1F3357"/>
          </a:solidFill>
          <a:ln/>
        </p:spPr>
      </p:sp>
      <p:pic>
        <p:nvPicPr>
          <p:cNvPr id="18" name="Image 4" descr="assets/shield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4142232"/>
            <a:ext cx="292608" cy="29260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097280" y="4050792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worker safety</a:t>
            </a:r>
            <a:endParaRPr lang="en-US" sz="1250" dirty="0"/>
          </a:p>
        </p:txBody>
      </p:sp>
      <p:sp>
        <p:nvSpPr>
          <p:cNvPr id="20" name="Text 13"/>
          <p:cNvSpPr/>
          <p:nvPr/>
        </p:nvSpPr>
        <p:spPr>
          <a:xfrm>
            <a:off x="6400800" y="14173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APPLICATIONS</a:t>
            </a:r>
            <a:endParaRPr lang="en-US" sz="1100" dirty="0"/>
          </a:p>
        </p:txBody>
      </p:sp>
      <p:sp>
        <p:nvSpPr>
          <p:cNvPr id="21" name="Shape 14"/>
          <p:cNvSpPr/>
          <p:nvPr/>
        </p:nvSpPr>
        <p:spPr>
          <a:xfrm>
            <a:off x="6400800" y="1783080"/>
            <a:ext cx="2542032" cy="123444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22" name="Image 5" descr="assets/industry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34072" y="1965960"/>
            <a:ext cx="475488" cy="475488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6492240" y="2532888"/>
            <a:ext cx="235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</a:t>
            </a:r>
            <a:endParaRPr lang="en-US" sz="1200" dirty="0"/>
          </a:p>
        </p:txBody>
      </p:sp>
      <p:sp>
        <p:nvSpPr>
          <p:cNvPr id="24" name="Shape 16"/>
          <p:cNvSpPr/>
          <p:nvPr/>
        </p:nvSpPr>
        <p:spPr>
          <a:xfrm>
            <a:off x="9125712" y="1783080"/>
            <a:ext cx="2542032" cy="123444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25" name="Image 6" descr="assets/cogs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58984" y="1965960"/>
            <a:ext cx="475488" cy="475488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9217152" y="2532888"/>
            <a:ext cx="235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machinery</a:t>
            </a:r>
            <a:endParaRPr lang="en-US" sz="1200" dirty="0"/>
          </a:p>
        </p:txBody>
      </p:sp>
      <p:sp>
        <p:nvSpPr>
          <p:cNvPr id="27" name="Shape 18"/>
          <p:cNvSpPr/>
          <p:nvPr/>
        </p:nvSpPr>
        <p:spPr>
          <a:xfrm>
            <a:off x="6400800" y="3200400"/>
            <a:ext cx="2542032" cy="123444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28" name="Image 7" descr="assets/network_whi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34072" y="3383280"/>
            <a:ext cx="475488" cy="475488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6492240" y="3950208"/>
            <a:ext cx="235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Automotive plants</a:t>
            </a:r>
            <a:endParaRPr lang="en-US" sz="1200" dirty="0"/>
          </a:p>
        </p:txBody>
      </p:sp>
      <p:sp>
        <p:nvSpPr>
          <p:cNvPr id="30" name="Shape 20"/>
          <p:cNvSpPr/>
          <p:nvPr/>
        </p:nvSpPr>
        <p:spPr>
          <a:xfrm>
            <a:off x="9125712" y="3200400"/>
            <a:ext cx="2542032" cy="123444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31" name="Image 8" descr="assets/microchip_whit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158984" y="3383280"/>
            <a:ext cx="475488" cy="475488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9217152" y="3950208"/>
            <a:ext cx="235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factories</a:t>
            </a:r>
            <a:endParaRPr lang="en-US" sz="1200" dirty="0"/>
          </a:p>
        </p:txBody>
      </p:sp>
      <p:sp>
        <p:nvSpPr>
          <p:cNvPr id="33" name="Text 2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TwinEdge AI  |  Tata Technologies InnoVent-27</a:t>
            </a:r>
            <a:endParaRPr lang="en-US" sz="900" dirty="0"/>
          </a:p>
        </p:txBody>
      </p:sp>
      <p:sp>
        <p:nvSpPr>
          <p:cNvPr id="34" name="Text 2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 AHEAD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 &amp; conclusion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394960" cy="475488"/>
          </a:xfrm>
          <a:prstGeom prst="rect">
            <a:avLst/>
          </a:prstGeom>
          <a:solidFill>
            <a:srgbClr val="F7F8FA"/>
          </a:solidFill>
          <a:ln/>
        </p:spPr>
      </p:sp>
      <p:pic>
        <p:nvPicPr>
          <p:cNvPr id="6" name="Image 0" descr="assets/satellite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874520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1783080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IoT integration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48640" y="2350008"/>
            <a:ext cx="5394960" cy="475488"/>
          </a:xfrm>
          <a:prstGeom prst="rect">
            <a:avLst/>
          </a:prstGeom>
          <a:solidFill>
            <a:srgbClr val="F7F8FA"/>
          </a:solidFill>
          <a:ln/>
        </p:spPr>
      </p:sp>
      <p:pic>
        <p:nvPicPr>
          <p:cNvPr id="9" name="Image 1" descr="assets/microchip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441448"/>
            <a:ext cx="292608" cy="29260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97280" y="2350008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device deployment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548640" y="2916936"/>
            <a:ext cx="5394960" cy="475488"/>
          </a:xfrm>
          <a:prstGeom prst="rect">
            <a:avLst/>
          </a:prstGeom>
          <a:solidFill>
            <a:srgbClr val="F7F8FA"/>
          </a:solidFill>
          <a:ln/>
        </p:spPr>
      </p:sp>
      <p:pic>
        <p:nvPicPr>
          <p:cNvPr id="12" name="Image 2" descr="assets/cloud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008376"/>
            <a:ext cx="292608" cy="29260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97280" y="2916936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monitoring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548640" y="3483864"/>
            <a:ext cx="5394960" cy="475488"/>
          </a:xfrm>
          <a:prstGeom prst="rect">
            <a:avLst/>
          </a:prstGeom>
          <a:solidFill>
            <a:srgbClr val="F7F8FA"/>
          </a:solidFill>
          <a:ln/>
        </p:spPr>
      </p:sp>
      <p:pic>
        <p:nvPicPr>
          <p:cNvPr id="15" name="Image 3" descr="assets/desktop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575304"/>
            <a:ext cx="292608" cy="29260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097280" y="3483864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digital twin simulation</a:t>
            </a:r>
            <a:endParaRPr lang="en-US" sz="1250" dirty="0"/>
          </a:p>
        </p:txBody>
      </p:sp>
      <p:sp>
        <p:nvSpPr>
          <p:cNvPr id="17" name="Shape 11"/>
          <p:cNvSpPr/>
          <p:nvPr/>
        </p:nvSpPr>
        <p:spPr>
          <a:xfrm>
            <a:off x="548640" y="4050792"/>
            <a:ext cx="5394960" cy="475488"/>
          </a:xfrm>
          <a:prstGeom prst="rect">
            <a:avLst/>
          </a:prstGeom>
          <a:solidFill>
            <a:srgbClr val="F7F8FA"/>
          </a:solidFill>
          <a:ln/>
        </p:spPr>
      </p:sp>
      <p:pic>
        <p:nvPicPr>
          <p:cNvPr id="18" name="Image 4" descr="assets/network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4142232"/>
            <a:ext cx="292608" cy="29260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097280" y="4050792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Multi-factory scalability</a:t>
            </a:r>
            <a:endParaRPr lang="en-US" sz="1250" dirty="0"/>
          </a:p>
        </p:txBody>
      </p:sp>
      <p:sp>
        <p:nvSpPr>
          <p:cNvPr id="20" name="Shape 13"/>
          <p:cNvSpPr/>
          <p:nvPr/>
        </p:nvSpPr>
        <p:spPr>
          <a:xfrm>
            <a:off x="6400800" y="1417320"/>
            <a:ext cx="5212080" cy="4663440"/>
          </a:xfrm>
          <a:prstGeom prst="rect">
            <a:avLst/>
          </a:prstGeom>
          <a:solidFill>
            <a:srgbClr val="16243E"/>
          </a:solidFill>
          <a:ln/>
        </p:spPr>
      </p:sp>
      <p:pic>
        <p:nvPicPr>
          <p:cNvPr id="21" name="Image 5" descr="assets/lightbulb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20840" y="1691640"/>
            <a:ext cx="457200" cy="45720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6720840" y="22402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100" dirty="0"/>
          </a:p>
        </p:txBody>
      </p:sp>
      <p:sp>
        <p:nvSpPr>
          <p:cNvPr id="23" name="Text 15"/>
          <p:cNvSpPr/>
          <p:nvPr/>
        </p:nvSpPr>
        <p:spPr>
          <a:xfrm>
            <a:off x="6720840" y="2560320"/>
            <a:ext cx="4572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DCE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TwinEdge AI successfully demonstrates how AI-driven predictive maintenance can improve machine reliability, reduce downtime, and enable smarter manufacturing operations.</a:t>
            </a:r>
            <a:endParaRPr lang="en-US" sz="1400" dirty="0"/>
          </a:p>
        </p:txBody>
      </p:sp>
      <p:sp>
        <p:nvSpPr>
          <p:cNvPr id="24" name="Shape 16"/>
          <p:cNvSpPr/>
          <p:nvPr/>
        </p:nvSpPr>
        <p:spPr>
          <a:xfrm>
            <a:off x="6720840" y="4617720"/>
            <a:ext cx="4206240" cy="0"/>
          </a:xfrm>
          <a:prstGeom prst="line">
            <a:avLst/>
          </a:prstGeom>
          <a:noFill/>
          <a:ln w="12700">
            <a:solidFill>
              <a:srgbClr val="2E4569"/>
            </a:solidFill>
            <a:prstDash val="solid"/>
          </a:ln>
        </p:spPr>
      </p:sp>
      <p:sp>
        <p:nvSpPr>
          <p:cNvPr id="25" name="Text 17"/>
          <p:cNvSpPr/>
          <p:nvPr/>
        </p:nvSpPr>
        <p:spPr>
          <a:xfrm>
            <a:off x="6720840" y="480060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reactive repairs to predictive intelligence — built at the edge, scaled to the cloud.</a:t>
            </a:r>
            <a:endParaRPr lang="en-US" sz="1200" dirty="0"/>
          </a:p>
        </p:txBody>
      </p:sp>
      <p:sp>
        <p:nvSpPr>
          <p:cNvPr id="26" name="Text 1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TwinEdge AI  |  Tata Technologies InnoVent-27</a:t>
            </a:r>
            <a:endParaRPr lang="en-US" sz="900" dirty="0"/>
          </a:p>
        </p:txBody>
      </p:sp>
      <p:sp>
        <p:nvSpPr>
          <p:cNvPr id="27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624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2286000"/>
            <a:ext cx="5943600" cy="5943600"/>
          </a:xfrm>
          <a:prstGeom prst="ellipse">
            <a:avLst/>
          </a:prstGeom>
          <a:solidFill>
            <a:srgbClr val="1F335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40080" y="3246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 welcome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4114800"/>
            <a:ext cx="5486400" cy="0"/>
          </a:xfrm>
          <a:prstGeom prst="line">
            <a:avLst/>
          </a:prstGeom>
          <a:noFill/>
          <a:ln w="12700">
            <a:solidFill>
              <a:srgbClr val="2E45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43434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286000" y="4343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STARBUCKS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47548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286000" y="47548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Govt Mahila Engineering College, Ajmer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51663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286000" y="5166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Tata Technologies InnoVent-27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TwinEdge AI  |  Tata Technologies InnoVent-27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TwinEdge AI - Predictive Maintenance</dc:title>
  <dc:subject>PptxGenJS Presentation</dc:subject>
  <dc:creator>Team STARBUCKS</dc:creator>
  <cp:lastModifiedBy>Team STARBUCKS</cp:lastModifiedBy>
  <cp:revision>1</cp:revision>
  <dcterms:created xsi:type="dcterms:W3CDTF">2026-06-19T06:58:31Z</dcterms:created>
  <dcterms:modified xsi:type="dcterms:W3CDTF">2026-06-19T06:58:31Z</dcterms:modified>
</cp:coreProperties>
</file>